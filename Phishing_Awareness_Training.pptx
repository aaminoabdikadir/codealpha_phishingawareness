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143000"/>
            <a:ext cx="1828800" cy="1828800"/>
          </a:xfrm>
          <a:prstGeom prst="ellipse">
            <a:avLst/>
          </a:prstGeom>
          <a:solidFill>
            <a:srgbClr val="14375F"/>
          </a:solidFill>
          <a:ln w="25400">
            <a:solidFill>
              <a:srgbClr val="00B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9464040" y="1572768"/>
            <a:ext cx="822960" cy="960120"/>
          </a:xfrm>
          <a:prstGeom prst="hexagon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t>PHISHING</a:t>
            </a:r>
            <a:br/>
            <a:r>
              <a:t>AWARENESS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B7EB"/>
                </a:solidFill>
                <a:latin typeface="Aptos"/>
              </a:defRPr>
            </a:pPr>
            <a:r>
              <a:t>Recognize • Verify •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t>Presenter: Aamino Abdikadir</a:t>
            </a:r>
          </a:p>
          <a:p>
            <a:pPr>
              <a:defRPr sz="1500">
                <a:solidFill>
                  <a:srgbClr val="BECDE1"/>
                </a:solidFill>
                <a:latin typeface="Aptos"/>
              </a:defRPr>
            </a:pPr>
            <a:r>
              <a:t>Domain: Cyber Security • CodeAlpha Internship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623560"/>
            <a:ext cx="2834640" cy="502920"/>
          </a:xfrm>
          <a:prstGeom prst="round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TASK 2 • SECURITY AWARENESS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What is Phishing?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CDE1"/>
                </a:solidFill>
                <a:latin typeface="Aptos"/>
              </a:defRPr>
            </a:pPr>
            <a:r>
              <a:t>A social-engineering attack designed to trick people into revealing information or taking unsafe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29000" cy="182880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73152" cy="1828800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Phishing is a fraudulent message or website that impersonates a trusted person, company, or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429000" cy="182880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73152" cy="1828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373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Main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128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Steal passwords, financial details, personal data, or access to accounts and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429000" cy="182880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73152" cy="182880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3736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12848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Attackers create urgency, trust, or fear to persuade a victim to click, open, reply, pay, or log 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Phishing relies heavily on human behavior—not only technical vulnerabilities.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A convincing message can look legitimate even when it is malicious.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Always pause and verify before responding to unexpected requests.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3"/>
                </a:solidFill>
                <a:latin typeface="Aptos"/>
              </a:defRPr>
            </a:pPr>
            <a:r>
              <a:t>CodeAlpha Internship • Cyber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3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Common Types of Phishing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303520" cy="178308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1783080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Email Phishing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67128"/>
            <a:ext cx="48920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Mass emails pretending to be banks, companies, or services. Often contain fake links or attachments.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303520" cy="178308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73152" cy="17830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39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Spear Phishing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67128"/>
            <a:ext cx="48920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Targeted messages customized for a specific person, team, or organization.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03320"/>
            <a:ext cx="5303520" cy="178308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03320"/>
            <a:ext cx="73152" cy="1783080"/>
          </a:xfrm>
          <a:prstGeom prst="rect">
            <a:avLst/>
          </a:prstGeom>
          <a:solidFill>
            <a:srgbClr val="19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Smishing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61688"/>
            <a:ext cx="48920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Phishing delivered through SMS or messaging apps, often using fake delivery, banking, or account alerts.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303520" cy="178308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03320"/>
            <a:ext cx="73152" cy="17830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886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Clone Phishing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361688"/>
            <a:ext cx="489204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A legitimate-looking message is copied and modified so a link or attachment points to a malicious destination.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3"/>
                </a:solidFill>
                <a:latin typeface="Aptos"/>
              </a:defRPr>
            </a:pPr>
            <a:r>
              <a:t>CodeAlpha Internship • Cyber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3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How to Spot Phishing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CDE1"/>
                </a:solidFill>
                <a:latin typeface="Aptos"/>
              </a:defRPr>
            </a:pPr>
            <a:r>
              <a:t>Pause before you click. Look for multiple warning signs.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417320"/>
            <a:ext cx="502920" cy="50292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389888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Suspicious URLs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389888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DAEB"/>
                </a:solidFill>
                <a:latin typeface="Aptos"/>
              </a:defRPr>
            </a:pPr>
            <a:r>
              <a:t>Check the real domain. Beware of misspellings, shortened links, or unexpected domains.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359152"/>
            <a:ext cx="502920" cy="50292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317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Generic Greetings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DAEB"/>
                </a:solidFill>
                <a:latin typeface="Aptos"/>
              </a:defRPr>
            </a:pPr>
            <a:r>
              <a:t>Messages using “Dear User” or vague language may indicate mass phishing.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300984"/>
            <a:ext cx="502920" cy="50292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735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Urgent Language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273552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DAEB"/>
                </a:solidFill>
                <a:latin typeface="Aptos"/>
              </a:defRPr>
            </a:pPr>
            <a:r>
              <a:t>“Act now,” “account will be closed,” or threats are common pressure tactics.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242816"/>
            <a:ext cx="502920" cy="50292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215383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Unexpected Attachments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215383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DAEB"/>
                </a:solidFill>
                <a:latin typeface="Aptos"/>
              </a:defRPr>
            </a:pPr>
            <a:r>
              <a:t>Be cautious with unfamiliar files, especially executable or macro-enabled documents.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184648"/>
            <a:ext cx="502920" cy="502920"/>
          </a:xfrm>
          <a:prstGeom prst="ellipse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157216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Unusual 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157216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DDAEB"/>
                </a:solidFill>
                <a:latin typeface="Aptos"/>
              </a:defRPr>
            </a:pPr>
            <a:r>
              <a:t>Unexpected requests for passwords, codes, payments, or sensitive information are red flags.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3"/>
                </a:solidFill>
                <a:latin typeface="Aptos"/>
              </a:defRPr>
            </a:pPr>
            <a:r>
              <a:t>CodeAlpha Internship • Cyber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3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Best Practices for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CDE1"/>
                </a:solidFill>
                <a:latin typeface="Aptos"/>
              </a:defRPr>
            </a:pPr>
            <a:r>
              <a:t>Use layered protection: verify the request, secure the account, and report suspicious activity.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196596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965960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Verify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• Contact the sender using a trusted channel.</a:t>
            </a:r>
            <a:br/>
            <a:r>
              <a:t>• Type websites manually when possible.</a:t>
            </a:r>
            <a:br/>
            <a:r>
              <a:t>• Confirm unusual payment or password requests.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196596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196596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Use MFA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671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• Enable Multi-Factor Authentication.</a:t>
            </a:r>
            <a:br/>
            <a:r>
              <a:t>• Never approve an unexpected login prompt.</a:t>
            </a:r>
            <a:br/>
            <a:r>
              <a:t>• Protect recovery methods and codes.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429000" cy="196596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196596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67128"/>
            <a:ext cx="3017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• Do not reply or forward suspicious messages.</a:t>
            </a:r>
            <a:br/>
            <a:r>
              <a:t>• Report through your organization’s security process.</a:t>
            </a:r>
            <a:br/>
            <a:r>
              <a:t>• If clicked, report immediately—do not hide the incident.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241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Keep browsers, operating systems, and security tools updated.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Use strong, unique passwords and a reputable password manager.</a:t>
            </a:r>
          </a:p>
          <a:p>
            <a:pPr>
              <a:lnSpc>
                <a:spcPct val="108000"/>
              </a:lnSpc>
              <a:spcAft>
                <a:spcPts val="1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When in doubt: STOP → VERIFY → REPORT.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3"/>
                </a:solidFill>
                <a:latin typeface="Aptos"/>
              </a:defRPr>
            </a:pPr>
            <a:r>
              <a:t>CodeAlpha Internship • Cyber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3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Real-World Example &amp; Quick 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CDE1"/>
                </a:solidFill>
                <a:latin typeface="Aptos"/>
              </a:defRPr>
            </a:pPr>
            <a:r>
              <a:t>Scenario: An attacker impersonates a company manager and requests an urgent payment.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492240" cy="416052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416052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6080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6080759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You receive an email that appears to come from your manager:</a:t>
            </a:r>
            <a:br/>
            <a:br/>
            <a:r>
              <a:t>“I am in a meeting and need this invoice paid immediately. Please use the bank details in the attached document. Do not call me because I am unavailable.”</a:t>
            </a:r>
            <a:br/>
            <a:br/>
            <a:r>
              <a:t>Warning signs: urgency • unusual payment request • attachment • request to bypass normal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417320"/>
            <a:ext cx="4069080" cy="416052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417320"/>
            <a:ext cx="73152" cy="4160520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6002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Quick Quiz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075688"/>
            <a:ext cx="3657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What should you do first?</a:t>
            </a:r>
            <a:br/>
            <a:br/>
            <a:r>
              <a:t>A. Open the attachment</a:t>
            </a:r>
            <a:br/>
            <a:r>
              <a:t>B. Pay immediately</a:t>
            </a:r>
            <a:br/>
            <a:r>
              <a:t>C. Verify through a trusted channel</a:t>
            </a:r>
            <a:br/>
            <a:r>
              <a:t>D. Reply and ask for the password</a:t>
            </a:r>
            <a:br/>
            <a:br/>
            <a:r>
              <a:t>Correct response: C</a:t>
            </a:r>
            <a:br/>
            <a:br/>
            <a:r>
              <a:t>Verify before taking action.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3"/>
                </a:solidFill>
                <a:latin typeface="Aptos"/>
              </a:defRPr>
            </a:pPr>
            <a:r>
              <a:t>CodeAlpha Internship • Cyber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3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Conclusion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ECDE1"/>
                </a:solidFill>
                <a:latin typeface="Aptos"/>
              </a:defRPr>
            </a:pPr>
            <a:r>
              <a:t>Phishing defense starts with awareness and a deliberate pause.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29000" cy="178308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783080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01  Think before you click.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30175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Unexpected messages deserve extra attention.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08760"/>
            <a:ext cx="3429000" cy="178308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508760"/>
            <a:ext cx="73152" cy="1783080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02  Inspect before you trust.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67128"/>
            <a:ext cx="30175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Check sender details, URLs, attachments, and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508760"/>
            <a:ext cx="3429000" cy="178308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508760"/>
            <a:ext cx="73152" cy="1783080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91639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03  Verify independently.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67128"/>
            <a:ext cx="30175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Use a trusted contact method—not the message itself.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429000" cy="178308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73152" cy="1783080"/>
          </a:xfrm>
          <a:prstGeom prst="rect">
            <a:avLst/>
          </a:prstGeom>
          <a:solidFill>
            <a:srgbClr val="00B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04  Protect your accounts.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15968"/>
            <a:ext cx="30175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Use MFA, strong passwords, and updated software.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657600"/>
            <a:ext cx="3429000" cy="1783080"/>
          </a:xfrm>
          <a:prstGeom prst="roundRect">
            <a:avLst/>
          </a:prstGeom>
          <a:solidFill>
            <a:srgbClr val="142744"/>
          </a:solidFill>
          <a:ln>
            <a:solidFill>
              <a:srgbClr val="3248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657600"/>
            <a:ext cx="73152" cy="178308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84048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05  Report quickly.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315968"/>
            <a:ext cx="3017520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CDDAEB"/>
                </a:solidFill>
                <a:latin typeface="Aptos"/>
              </a:defRPr>
            </a:pPr>
            <a:r>
              <a:t>Early reporting can reduce damage and protect others.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0B7EB"/>
                </a:solidFill>
                <a:latin typeface="Aptos Display"/>
              </a:defRPr>
            </a:pPr>
            <a:r>
              <a:t>STOP • THINK • VERIFY • REPORT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73952"/>
            <a:ext cx="10881360" cy="9144"/>
          </a:xfrm>
          <a:prstGeom prst="rect">
            <a:avLst/>
          </a:prstGeom>
          <a:solidFill>
            <a:srgbClr val="37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51052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0AFC3"/>
                </a:solidFill>
                <a:latin typeface="Aptos"/>
              </a:defRPr>
            </a:pPr>
            <a:r>
              <a:t>CodeAlpha Internship • Cyber 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0AFC3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